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0" y="1371600"/>
            <a:ext cx="2103120" cy="2103120"/>
          </a:xfrm>
          <a:prstGeom prst="roundRect">
            <a:avLst>
              <a:gd name="adj" fmla="val 10000"/>
            </a:avLst>
          </a:prstGeom>
          <a:solidFill>
            <a:srgbClr val="111827"/>
          </a:solidFill>
          <a:ln w="254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0" y="1554480"/>
            <a:ext cx="2103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0">
                <a:solidFill>
                  <a:srgbClr val="E2E8F0"/>
                </a:solidFill>
                <a:latin typeface="Calibri"/>
              </a:defRPr>
            </a:pPr>
            <a:r>
              <a:t>🛡️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657600"/>
            <a:ext cx="8503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E2E8F0"/>
                </a:solidFill>
                <a:latin typeface="Calibri"/>
              </a:defRPr>
            </a:pPr>
            <a:r>
              <a:t>NetSentry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3891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34D399"/>
                </a:solidFill>
                <a:latin typeface="Calibri"/>
              </a:defRPr>
            </a:pPr>
            <a:r>
              <a:t>ML-Based Network Intrusion Detection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502920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Built from scratch with NumPy — No sklearn, No TensorFlow, No PyTorch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80160" y="5669280"/>
            <a:ext cx="2286000" cy="64008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07160" y="5745480"/>
            <a:ext cx="203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475569"/>
                </a:solidFill>
                <a:latin typeface="Calibri"/>
              </a:defRPr>
            </a:pPr>
            <a:r>
              <a:t>Framework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7160" y="5999480"/>
            <a:ext cx="203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2E8F0"/>
                </a:solidFill>
                <a:latin typeface="Calibri"/>
              </a:defRPr>
            </a:pPr>
            <a:r>
              <a:t>FastAPI + Uvicorn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40479" y="5669280"/>
            <a:ext cx="2286000" cy="64008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67479" y="5745480"/>
            <a:ext cx="203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475569"/>
                </a:solidFill>
                <a:latin typeface="Calibri"/>
              </a:defRPr>
            </a:pPr>
            <a:r>
              <a:t>ML Engine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7479" y="5999480"/>
            <a:ext cx="203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2E8F0"/>
                </a:solidFill>
                <a:latin typeface="Calibri"/>
              </a:defRPr>
            </a:pPr>
            <a:r>
              <a:t>Pure NumPy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5669280"/>
            <a:ext cx="2286000" cy="64008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27800" y="5745480"/>
            <a:ext cx="203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475569"/>
                </a:solidFill>
                <a:latin typeface="Calibri"/>
              </a:defRPr>
            </a:pPr>
            <a:r>
              <a:t>Auth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7800" y="5999480"/>
            <a:ext cx="203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2E8F0"/>
                </a:solidFill>
                <a:latin typeface="Calibri"/>
              </a:defRPr>
            </a:pPr>
            <a:r>
              <a:t>JWT + RBAC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61119" y="5669280"/>
            <a:ext cx="2286000" cy="64008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88119" y="5745480"/>
            <a:ext cx="203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475569"/>
                </a:solidFill>
                <a:latin typeface="Calibri"/>
              </a:defRPr>
            </a:pPr>
            <a:r>
              <a:t>Dashboard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88119" y="5999480"/>
            <a:ext cx="203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2E8F0"/>
                </a:solidFill>
                <a:latin typeface="Calibri"/>
              </a:defRPr>
            </a:pPr>
            <a:r>
              <a:t>Real-time WebSocket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6400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Calibri"/>
              </a:defRPr>
            </a:pPr>
            <a:r>
              <a:t>NetSentry — Network Intrusion Detection System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0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75569"/>
                </a:solidFill>
                <a:latin typeface="Calibri"/>
              </a:defRPr>
            </a:pPr>
            <a:r>
              <a:t>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137160" cy="4572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2E8F0"/>
                </a:solidFill>
                <a:latin typeface="Calibri"/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10058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Why do we need a new approach to network intrusion detection?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303520" cy="105156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56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E2E8F0"/>
                </a:solidFill>
                <a:latin typeface="Calibri"/>
              </a:defRPr>
            </a:pPr>
            <a:r>
              <a:t>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65608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87171"/>
                </a:solidFill>
                <a:latin typeface="Calibri"/>
              </a:defRPr>
            </a:pPr>
            <a:r>
              <a:t>Rising Cyber Threats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960880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Network attacks (DDoS, brute force, port scanning, botnets) are increasing in volume and sophistication, overwhelming traditional rule-based IDS.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743200"/>
            <a:ext cx="5303520" cy="105156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8448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E2E8F0"/>
                </a:solidFill>
                <a:latin typeface="Calibri"/>
              </a:defRPr>
            </a:pPr>
            <a:r>
              <a:t>⚙️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84480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87171"/>
                </a:solidFill>
                <a:latin typeface="Calibri"/>
              </a:defRPr>
            </a:pPr>
            <a:r>
              <a:t>Signature Limitations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3149600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Traditional IDS like Snort/Suricata rely on known signatures and fail to detect zero-day attacks or novel attack variants.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931920"/>
            <a:ext cx="5303520" cy="105156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0335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E2E8F0"/>
                </a:solidFill>
                <a:latin typeface="Calibri"/>
              </a:defRPr>
            </a:pPr>
            <a:r>
              <a:t>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403352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B923C"/>
                </a:solidFill>
                <a:latin typeface="Calibri"/>
              </a:defRPr>
            </a:pPr>
            <a:r>
              <a:t>Black-Box ML Tools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4338320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Existing ML-based solutions use opaque libraries (sklearn, TensorFlow) making it impossible to audit the detection logic or understand why a flow was flagged.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120640"/>
            <a:ext cx="5303520" cy="105156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2222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E2E8F0"/>
                </a:solidFill>
                <a:latin typeface="Calibri"/>
              </a:defRPr>
            </a:pPr>
            <a:r>
              <a:t>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522224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B923C"/>
                </a:solidFill>
                <a:latin typeface="Calibri"/>
              </a:defRPr>
            </a:pPr>
            <a:r>
              <a:t>Commercial Cost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527040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Enterprise NIDS solutions are expensive and vendor-locked. Organizations need transparent, customizable, open-source alternatives.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75569"/>
                </a:solidFill>
                <a:latin typeface="Calibri"/>
              </a:defRPr>
            </a:pPr>
            <a:r>
              <a:t>THE SCALE OF THE PROBLEM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0" y="2103120"/>
            <a:ext cx="4754880" cy="91440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74180" y="22047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87171"/>
                </a:solidFill>
                <a:latin typeface="Calibri"/>
              </a:defRPr>
            </a:pPr>
            <a:r>
              <a:t>2,200+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74180" y="263652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cyber attacks per day globally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0" y="3200400"/>
            <a:ext cx="4754880" cy="91440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74180" y="33020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B923C"/>
                </a:solidFill>
                <a:latin typeface="Calibri"/>
              </a:defRPr>
            </a:pPr>
            <a:r>
              <a:t>$4.45M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74180" y="373380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average cost of a data breach (IBM 2023)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0" y="4297679"/>
            <a:ext cx="4754880" cy="91440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74180" y="4399279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BBF24"/>
                </a:solidFill>
                <a:latin typeface="Calibri"/>
              </a:defRPr>
            </a:pPr>
            <a:r>
              <a:t>277 days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74180" y="4831079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average time to identify a breach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0" y="5394959"/>
            <a:ext cx="4754880" cy="91440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74180" y="5496559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60A5FA"/>
                </a:solidFill>
                <a:latin typeface="Calibri"/>
              </a:defRPr>
            </a:pPr>
            <a:r>
              <a:t>68%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74180" y="5928359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of breaches involve a human element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6400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Calibri"/>
              </a:defRPr>
            </a:pPr>
            <a:r>
              <a:t>NetSentry — Network Intrusion Detection System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400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75569"/>
                </a:solidFill>
                <a:latin typeface="Calibri"/>
              </a:defRPr>
            </a:pPr>
            <a: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137160" cy="4572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2E8F0"/>
                </a:solidFill>
                <a:latin typeface="Calibri"/>
              </a:defRPr>
            </a:pPr>
            <a:r>
              <a:t>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10058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What NetSentry sets out to achieve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20640" cy="146304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83920" y="1706880"/>
            <a:ext cx="411480" cy="41148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3920" y="1732280"/>
            <a:ext cx="411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B0F19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91920" y="168148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D399"/>
                </a:solidFill>
                <a:latin typeface="Calibri"/>
              </a:defRPr>
            </a:pPr>
            <a:r>
              <a:t>From-Scratch ML Models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91920" y="2011680"/>
            <a:ext cx="4389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Implement Decision Tree, Random Forest, MLP Neural Network, and Isolation Forest entirely in NumPy — no sklearn, TensorFlow, or PyTorch. Every line of math is auditable.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5120640" cy="146304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83920" y="3352800"/>
            <a:ext cx="411480" cy="411480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3920" y="3378200"/>
            <a:ext cx="411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B0F19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91920" y="332740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0A5FA"/>
                </a:solidFill>
                <a:latin typeface="Calibri"/>
              </a:defRPr>
            </a:pPr>
            <a:r>
              <a:t>Real-Time Detection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91920" y="3657600"/>
            <a:ext cx="4389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Classify network flows in under 5ms with live packet capture (Scapy), WebSocket streaming to a real-time dashboard, and automated alerting.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846320"/>
            <a:ext cx="5120640" cy="146304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83920" y="4998720"/>
            <a:ext cx="411480" cy="41148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3920" y="5024120"/>
            <a:ext cx="411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B0F19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91920" y="497332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78BFA"/>
                </a:solidFill>
                <a:latin typeface="Calibri"/>
              </a:defRPr>
            </a:pPr>
            <a:r>
              <a:t>Ensemble + Zero-Day Detection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91920" y="5303520"/>
            <a:ext cx="4389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Combine supervised models (RF + MLP weighted vote) with unsupervised anomaly detection (Isolation Forest) to catch both known attacks and novel zero-day threats.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1554480"/>
            <a:ext cx="5120640" cy="146304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70320" y="1706880"/>
            <a:ext cx="411480" cy="411480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70320" y="1732280"/>
            <a:ext cx="411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B0F19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78320" y="168148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87171"/>
                </a:solidFill>
                <a:latin typeface="Calibri"/>
              </a:defRPr>
            </a:pPr>
            <a:r>
              <a:t>Automated Response (IPS)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78320" y="2011680"/>
            <a:ext cx="4389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Automatically block attacker IPs via nftables integration with confidence gating, IP allowlisting, deduplication, and time-based expiry.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3200400"/>
            <a:ext cx="5120640" cy="146304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370320" y="3352800"/>
            <a:ext cx="411480" cy="411480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70320" y="3378200"/>
            <a:ext cx="411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B0F19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78320" y="332740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B923C"/>
                </a:solidFill>
                <a:latin typeface="Calibri"/>
              </a:defRPr>
            </a:pPr>
            <a:r>
              <a:t>Production Security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78320" y="3657600"/>
            <a:ext cx="4389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JWT authentication with HMAC-SHA256, PBKDF2 password hashing, role-based access control (Admin/Viewer), API key auth, and token-bucket rate limiting.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0" y="4846320"/>
            <a:ext cx="5120640" cy="146304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370320" y="4998720"/>
            <a:ext cx="411480" cy="41148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70320" y="5024120"/>
            <a:ext cx="411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B0F19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78320" y="497332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BBF24"/>
                </a:solidFill>
                <a:latin typeface="Calibri"/>
              </a:defRPr>
            </a:pPr>
            <a:r>
              <a:t>Full Observability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78320" y="5303520"/>
            <a:ext cx="4389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Prometheus metrics (counters, gauges, histograms), structured JSON logging, health/ready probes, and a comprehensive real-time dashboard with animated detection pipeline.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6400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Calibri"/>
              </a:defRPr>
            </a:pPr>
            <a:r>
              <a:t>NetSentry — Network Intrusion Detection System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8400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75569"/>
                </a:solidFill>
                <a:latin typeface="Calibri"/>
              </a:defRPr>
            </a:pPr>
            <a: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137160" cy="4572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2E8F0"/>
                </a:solidFill>
                <a:latin typeface="Calibri"/>
              </a:defRPr>
            </a:pPr>
            <a:r>
              <a:t>Use Case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10058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System actors and their interactions with NetSentry</a:t>
            </a:r>
          </a:p>
        </p:txBody>
      </p:sp>
      <p:pic>
        <p:nvPicPr>
          <p:cNvPr id="5" name="Picture 4" descr="usec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5736745" cy="5029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0" y="15544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75569"/>
                </a:solidFill>
                <a:latin typeface="Calibri"/>
              </a:defRPr>
            </a:pPr>
            <a:r>
              <a:t>SYSTEM ACTORS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2011680"/>
            <a:ext cx="3840480" cy="137160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24800" y="21132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4D399"/>
                </a:solidFill>
                <a:latin typeface="Calibri"/>
              </a:defRPr>
            </a:pPr>
            <a:r>
              <a:t>👤 Administrator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26400" y="2392680"/>
            <a:ext cx="3291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• Manage users (create, delete)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26400" y="2608580"/>
            <a:ext cx="3291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• Configure system settings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26400" y="2824480"/>
            <a:ext cx="3291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• Train ML models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26400" y="3040380"/>
            <a:ext cx="3291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• Enable/disable enforcement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6400" y="3256280"/>
            <a:ext cx="3291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• Full dashboard access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0" y="3566160"/>
            <a:ext cx="3840480" cy="137160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24800" y="36677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0A5FA"/>
                </a:solidFill>
                <a:latin typeface="Calibri"/>
              </a:defRPr>
            </a:pPr>
            <a:r>
              <a:t>👁️ Security Operator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26400" y="3947160"/>
            <a:ext cx="3291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• Monitor dashboard in real-time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26400" y="4163060"/>
            <a:ext cx="3291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• View &amp; filter alerts by severity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26400" y="4378960"/>
            <a:ext cx="3291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• View blocked IPs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26400" y="4594860"/>
            <a:ext cx="3291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• Unblock / flush blocks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26400" y="4810760"/>
            <a:ext cx="3291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• View system metrics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0" y="5120640"/>
            <a:ext cx="3840480" cy="137160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24800" y="52222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8BFA"/>
                </a:solidFill>
                <a:latin typeface="Calibri"/>
              </a:defRPr>
            </a:pPr>
            <a:r>
              <a:t>🌐 External System / Sensor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26400" y="5501640"/>
            <a:ext cx="3291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• Submit single flow for classification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26400" y="5717540"/>
            <a:ext cx="3291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• Submit batch of flows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26400" y="5933440"/>
            <a:ext cx="3291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• Authenticate via API key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26400" y="6149340"/>
            <a:ext cx="3291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• Receive prediction results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6400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Calibri"/>
              </a:defRPr>
            </a:pPr>
            <a:r>
              <a:t>NetSentry — Network Intrusion Detection System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0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75569"/>
                </a:solidFill>
                <a:latin typeface="Calibri"/>
              </a:defRPr>
            </a:pPr>
            <a: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137160" cy="4572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2E8F0"/>
                </a:solidFill>
                <a:latin typeface="Calibri"/>
              </a:defRPr>
            </a:pPr>
            <a:r>
              <a:t>ML Models &amp; Ensemble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10058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All models implemented from scratch in pure NumPy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2697480" cy="347472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56080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E2E8F0"/>
                </a:solidFill>
                <a:latin typeface="Calibri"/>
              </a:defRPr>
            </a:pPr>
            <a:r>
              <a:t>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5640" y="216408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4D399"/>
                </a:solidFill>
                <a:latin typeface="Calibri"/>
              </a:defRPr>
            </a:pPr>
            <a:r>
              <a:t>Decision Tree (CART)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5640" y="2418080"/>
            <a:ext cx="2514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75569"/>
                </a:solidFill>
                <a:latin typeface="Consolas"/>
              </a:defRPr>
            </a:pPr>
            <a:r>
              <a:t>src/models/decision_tree.py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6440" y="2722880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• CART algorithm (Breiman 1984)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6440" y="2951480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• Gini impurity &amp; entropy criteria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6440" y="3180080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• Iterative build (no recursion limit)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6440" y="3408680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• Laplace-smoothed leaf probabilities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6440" y="3637280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• Pre-pruning: max_depth, min_samples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83280" y="1554480"/>
            <a:ext cx="2697480" cy="347472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83280" y="1656080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E2E8F0"/>
                </a:solidFill>
                <a:latin typeface="Calibri"/>
              </a:defRPr>
            </a:pPr>
            <a:r>
              <a:t>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10280" y="216408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0A5FA"/>
                </a:solidFill>
                <a:latin typeface="Calibri"/>
              </a:defRPr>
            </a:pPr>
            <a:r>
              <a:t>Random Forest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10280" y="2418080"/>
            <a:ext cx="2514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75569"/>
                </a:solidFill>
                <a:latin typeface="Consolas"/>
              </a:defRPr>
            </a:pPr>
            <a:r>
              <a:t>src/models/random_forest.py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1080" y="2722880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• Bagging ensemble of N decision trees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1080" y="2951480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• Bootstrap sampling + sqrt feature subsets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1080" y="3180080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• Out-of-bag validation (free estimate)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1080" y="3408680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• Soft voting (averaged probabilities)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1080" y="3637280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• Parallel training via ProcessPoolExecutor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1554480"/>
            <a:ext cx="2697480" cy="347472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0" y="1656080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E2E8F0"/>
                </a:solidFill>
                <a:latin typeface="Calibri"/>
              </a:defRPr>
            </a:pPr>
            <a:r>
              <a:t>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44920" y="216408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A78BFA"/>
                </a:solidFill>
                <a:latin typeface="Calibri"/>
              </a:defRPr>
            </a:pPr>
            <a:r>
              <a:t>Neural Network (MLP)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44920" y="2418080"/>
            <a:ext cx="2514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75569"/>
                </a:solidFill>
                <a:latin typeface="Consolas"/>
              </a:defRPr>
            </a:pPr>
            <a:r>
              <a:t>src/models/neural_network.py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95720" y="2722880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• Feed-forward: 128 → 64 → softmax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95720" y="2951480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• He/Xavier weight initialization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95720" y="3180080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• Backprop with Adam optimizer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95720" y="3408680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• Inverted dropout regularization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95720" y="3637280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• Early stopping with best-weight restore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052560" y="1554480"/>
            <a:ext cx="2697480" cy="347472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052560" y="1656080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E2E8F0"/>
                </a:solidFill>
                <a:latin typeface="Calibri"/>
              </a:defRPr>
            </a:pPr>
            <a:r>
              <a:t>🔍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79560" y="216408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B923C"/>
                </a:solidFill>
                <a:latin typeface="Calibri"/>
              </a:defRPr>
            </a:pPr>
            <a:r>
              <a:t>Isolation Forest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79560" y="2418080"/>
            <a:ext cx="2514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75569"/>
                </a:solidFill>
                <a:latin typeface="Consolas"/>
              </a:defRPr>
            </a:pPr>
            <a:r>
              <a:t>src/models/isolation_forest.py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30360" y="2722880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• Anomaly detection (Liu et al. 2008)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30360" y="2951480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• Random partitioning measures isolation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30360" y="3180080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• Subsample size ψ = 256 per tree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30360" y="3408680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• Score normalized to [0, 1]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30360" y="3637280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• Catches zero-day attacks unseen in training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48640" y="5212080"/>
            <a:ext cx="11064240" cy="118872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2960" y="53136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4D399"/>
                </a:solidFill>
                <a:latin typeface="Calibri"/>
              </a:defRPr>
            </a:pPr>
            <a:r>
              <a:t>⚡ Ensemble (src/models/ensemble.py)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60" y="564388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2E8F0"/>
                </a:solidFill>
                <a:latin typeface="Calibri"/>
              </a:defRPr>
            </a:pPr>
            <a:r>
              <a:t>Supervised Vote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2960" y="58724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P = 0.55 × RF + 0.45 × MLP (weighted soft-voting)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564388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2E8F0"/>
                </a:solidFill>
                <a:latin typeface="Calibri"/>
              </a:defRPr>
            </a:pPr>
            <a:r>
              <a:t>Anomaly Override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0" y="58724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If supervised says 'benign' but IF score &gt; 0.75 → reclassify as attack (zero-day catch)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686800" y="564388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2E8F0"/>
                </a:solidFill>
                <a:latin typeface="Calibri"/>
              </a:defRPr>
            </a:pPr>
            <a:r>
              <a:t>Audit Trail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86800" y="58724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predict_with_detail() returns per-model probabilities, IF score, and override flag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1520" y="6400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Calibri"/>
              </a:defRPr>
            </a:pPr>
            <a:r>
              <a:t>NetSentry — Network Intrusion Detection System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058400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75569"/>
                </a:solidFill>
                <a:latin typeface="Calibri"/>
              </a:defRPr>
            </a:pPr>
            <a: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137160" cy="4572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2E8F0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10058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Layered design with strict dependency boundaries</a:t>
            </a:r>
          </a:p>
        </p:txBody>
      </p:sp>
      <p:pic>
        <p:nvPicPr>
          <p:cNvPr id="5" name="Picture 4" descr="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4227610" cy="5120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0" y="1463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75569"/>
                </a:solidFill>
                <a:latin typeface="Calibri"/>
              </a:defRPr>
            </a:pPr>
            <a:r>
              <a:t>ARCHITECTURE LAYERS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1828800"/>
            <a:ext cx="3474720" cy="68580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331200" y="1955800"/>
            <a:ext cx="127000" cy="127000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34400" y="1892300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0A5FA"/>
                </a:solidFill>
                <a:latin typeface="Calibri"/>
              </a:defRPr>
            </a:pPr>
            <a:r>
              <a:t>API Layer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34400" y="210820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FastAPI + Uvicorn, routes, auth middleware, rate limiter, Pydantic schemas, dashboard UI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2606040"/>
            <a:ext cx="3474720" cy="68580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331200" y="2733040"/>
            <a:ext cx="127000" cy="12700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34400" y="2669540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4D399"/>
                </a:solidFill>
                <a:latin typeface="Calibri"/>
              </a:defRPr>
            </a:pPr>
            <a:r>
              <a:t>Detection Core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34400" y="288544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InferenceEngine loads trained artifacts, runs ensemble prediction, returns class + confidence + anomaly score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3383280"/>
            <a:ext cx="3474720" cy="68580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331200" y="3510280"/>
            <a:ext cx="127000" cy="12700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34400" y="3446780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BBF24"/>
                </a:solidFill>
                <a:latin typeface="Calibri"/>
              </a:defRPr>
            </a:pPr>
            <a:r>
              <a:t>Alerting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34400" y="366268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AlertManager records predictions, maps severity, maintains bounded ring buffer, writes alerts.jsonl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4160520"/>
            <a:ext cx="3474720" cy="68580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331200" y="4287520"/>
            <a:ext cx="127000" cy="127000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34400" y="4224020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87171"/>
                </a:solidFill>
                <a:latin typeface="Calibri"/>
              </a:defRPr>
            </a:pPr>
            <a:r>
              <a:t>Enforcement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34400" y="443992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ResponseExecutor applies confidence gate, allowlist check, dedup, capacity cap, then delegates to firewall backend (nftables/log/noop)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0" y="4937760"/>
            <a:ext cx="3474720" cy="68580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331200" y="5064760"/>
            <a:ext cx="127000" cy="12700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34400" y="5001260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A78BFA"/>
                </a:solidFill>
                <a:latin typeface="Calibri"/>
              </a:defRPr>
            </a:pPr>
            <a:r>
              <a:t>Observability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34400" y="521716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Prometheus counters/gauges/histograms, structured JSON logging, /metrics endpoint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0" y="5715000"/>
            <a:ext cx="3474720" cy="68580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331200" y="5842000"/>
            <a:ext cx="127000" cy="127000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34400" y="5778500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B923C"/>
                </a:solidFill>
                <a:latin typeface="Calibri"/>
              </a:defRPr>
            </a:pPr>
            <a:r>
              <a:t>Training Pipeline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34400" y="599440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Offline: data → stratified split → fit models → evaluate → serialize artifacts (.pkl + report.json)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6400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Calibri"/>
              </a:defRPr>
            </a:pPr>
            <a:r>
              <a:t>NetSentry — Network Intrusion Detection System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0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75569"/>
                </a:solidFill>
                <a:latin typeface="Calibri"/>
              </a:defRPr>
            </a:pPr>
            <a: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137160" cy="4572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2E8F0"/>
                </a:solidFill>
                <a:latin typeface="Calibri"/>
              </a:defRPr>
            </a:pPr>
            <a:r>
              <a:t>Dataset — CIC-IDS2017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10058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Canadian Institute for Cybersecurity benchmark dataset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303520" cy="457200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4D399"/>
                </a:solidFill>
                <a:latin typeface="Calibri"/>
              </a:defRPr>
            </a:pPr>
            <a:r>
              <a:t>📊  About the Dataset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  •  Published by the Canadian Institute for Cybersecurity (UNB)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  •  5 full days of real network traffic (Mon–Fri), captured July 2017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1546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  •  Contains both benign background traffic and realistic attack scenarios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6576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  •  Flows extracted using CICFlowMeter — 80+ statistical features per flow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  •  NetSentry uses 30 selected features (ANOVA F-ratio feature selection)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6634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  •  Widely cited in IDS research — the standard benchmark for ML-based NIDS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303520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Consolas"/>
              </a:defRPr>
            </a:pPr>
            <a:r>
              <a:t>Source: https://www.unb.ca/cic/datasets/ids-2017.html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1554480"/>
            <a:ext cx="5029200" cy="256032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169164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87171"/>
                </a:solidFill>
                <a:latin typeface="Calibri"/>
              </a:defRPr>
            </a:pPr>
            <a:r>
              <a:t>🎯  Attack Types in Dataset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210312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87171"/>
                </a:solidFill>
                <a:latin typeface="Calibri"/>
              </a:defRPr>
            </a:pPr>
            <a:r>
              <a:t>DDoS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1031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Distributed Denial of Service (volumetric flood)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24231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0A5FA"/>
                </a:solidFill>
                <a:latin typeface="Calibri"/>
              </a:defRPr>
            </a:pPr>
            <a:r>
              <a:t>Port Scan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24231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Network reconnaissance / port enumeration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274320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BBF24"/>
                </a:solidFill>
                <a:latin typeface="Calibri"/>
              </a:defRPr>
            </a:pPr>
            <a:r>
              <a:t>Brute Force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27432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SSH &amp; FTP credential guessing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3063239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B923C"/>
                </a:solidFill>
                <a:latin typeface="Calibri"/>
              </a:defRPr>
            </a:pPr>
            <a:r>
              <a:t>Botnet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3063239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Ares botnet command-and-control traffic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3383279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BBF24"/>
                </a:solidFill>
                <a:latin typeface="Calibri"/>
              </a:defRPr>
            </a:pPr>
            <a:r>
              <a:t>Web Attack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3383279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XSS, SQL injection, brute force login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370332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B923C"/>
                </a:solidFill>
                <a:latin typeface="Calibri"/>
              </a:defRPr>
            </a:pPr>
            <a:r>
              <a:t>Infiltration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37033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Lateral movement / data exfiltration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429768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0" y="443484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78BFA"/>
                </a:solidFill>
                <a:latin typeface="Calibri"/>
              </a:defRPr>
            </a:pPr>
            <a:r>
              <a:t>🔬  Feature Engineering Pipeline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60" y="47548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A78BFA"/>
                </a:solidFill>
                <a:latin typeface="Calibri"/>
              </a:defRPr>
            </a:pPr>
            <a:r>
              <a:t>1. Clean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0" y="475488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Replace ±inf → NaN → median imputation, clip outliers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6560" y="50749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A78BFA"/>
                </a:solidFill>
                <a:latin typeface="Calibri"/>
              </a:defRPr>
            </a:pPr>
            <a:r>
              <a:t>2. Select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63840" y="507492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ANOVA F-ratio: keep top-30 features by class separability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66560" y="53949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A78BFA"/>
                </a:solidFill>
                <a:latin typeface="Calibri"/>
              </a:defRPr>
            </a:pPr>
            <a:r>
              <a:t>3. Scale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63840" y="539496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Z-score normalization: (x − μ) / σ on training set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66560" y="57150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A78BFA"/>
                </a:solidFill>
                <a:latin typeface="Calibri"/>
              </a:defRPr>
            </a:pPr>
            <a:r>
              <a:t>4. Split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63840" y="571500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Stratified 70/15/15 train/val/test — preserves class ratios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6400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Calibri"/>
              </a:defRPr>
            </a:pPr>
            <a:r>
              <a:t>NetSentry — Network Intrusion Detection System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0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75569"/>
                </a:solidFill>
                <a:latin typeface="Calibri"/>
              </a:defRPr>
            </a:pPr>
            <a: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137160" cy="4572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2E8F0"/>
                </a:solidFill>
                <a:latin typeface="Calibri"/>
              </a:defRPr>
            </a:pPr>
            <a:r>
              <a:t>Authentication &amp; RBAC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10058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JWT-based security with role-based access control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303520" cy="228600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D399"/>
                </a:solidFill>
                <a:latin typeface="Calibri"/>
              </a:defRPr>
            </a:pPr>
            <a:r>
              <a:t>🔐  Authentication Mechanism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0574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4D399"/>
                </a:solidFill>
                <a:latin typeface="Calibri"/>
              </a:defRPr>
            </a:pPr>
            <a:r>
              <a:t>• JWT Tokens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574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HMAC-SHA256 signed, configurable expiry (default 24h)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40487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0A5FA"/>
                </a:solidFill>
                <a:latin typeface="Calibri"/>
              </a:defRPr>
            </a:pPr>
            <a:r>
              <a:t>• Password Storage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240487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PBKDF2-SHA256, 100k iterations, random 32-byte salt — stdlib only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75234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A78BFA"/>
                </a:solidFill>
                <a:latin typeface="Calibri"/>
              </a:defRPr>
            </a:pPr>
            <a:r>
              <a:t>• API Key Auth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2752344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Static API key for machine-to-machine integration (grants admin)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09981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B923C"/>
                </a:solidFill>
                <a:latin typeface="Calibri"/>
              </a:defRPr>
            </a:pPr>
            <a:r>
              <a:t>• Rate Limiting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3099816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Token-bucket algorithm: configurable requests/minute per client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44728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BBF24"/>
                </a:solidFill>
                <a:latin typeface="Calibri"/>
              </a:defRPr>
            </a:pPr>
            <a:r>
              <a:t>• WebSocket Auth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3447288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JWT token passed as query parameter, validated on connect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114800"/>
            <a:ext cx="5303520" cy="228600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25196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0A5FA"/>
                </a:solidFill>
                <a:latin typeface="Calibri"/>
              </a:defRPr>
            </a:pPr>
            <a:r>
              <a:t>👥  Roles (2-tier RBAC)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663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87171"/>
                </a:solidFill>
                <a:latin typeface="Calibri"/>
              </a:defRPr>
            </a:pPr>
            <a:r>
              <a:t>ADMIN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93776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  ✓  Predict / classify flows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5138928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  ✓  View &amp; clear alerts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5340096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  ✓  Block/unblock IPs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4720" y="493776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  ✓  Manage users (CRUD)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74720" y="5138928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  ✓  Start/stop live capture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74720" y="5340096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  ✓  All viewer permissions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56235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0A5FA"/>
                </a:solidFill>
                <a:latin typeface="Calibri"/>
              </a:defRPr>
            </a:pPr>
            <a:r>
              <a:t>VIEWER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585216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  ✓  View dashboard (read-only)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74720" y="585216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  ✓  View alerts &amp; metrics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603504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  ✓  View blocked IPs list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74720" y="603504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  ✓  Change own password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1554480"/>
            <a:ext cx="5029200" cy="484632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0" y="169164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78BFA"/>
                </a:solidFill>
                <a:latin typeface="Calibri"/>
              </a:defRPr>
            </a:pPr>
            <a:r>
              <a:t>🔄  Authentication Flow</a:t>
            </a:r>
          </a:p>
        </p:txBody>
      </p:sp>
      <p:sp>
        <p:nvSpPr>
          <p:cNvPr id="33" name="Oval 32"/>
          <p:cNvSpPr/>
          <p:nvPr/>
        </p:nvSpPr>
        <p:spPr>
          <a:xfrm>
            <a:off x="6675120" y="2153920"/>
            <a:ext cx="292608" cy="292608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75120" y="2166620"/>
            <a:ext cx="292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B0F19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86600" y="212852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0A5FA"/>
                </a:solidFill>
                <a:latin typeface="Calibri"/>
              </a:defRPr>
            </a:pPr>
            <a:r>
              <a:t>POST /api/v1/login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86600" y="235712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Client sends username + password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803136" y="2484120"/>
            <a:ext cx="25400" cy="177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675120" y="2867152"/>
            <a:ext cx="292608" cy="292608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75120" y="2879852"/>
            <a:ext cx="292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B0F19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86600" y="2841752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4D399"/>
                </a:solidFill>
                <a:latin typeface="Calibri"/>
              </a:defRPr>
            </a:pPr>
            <a:r>
              <a:t>PBKDF2 Verify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86600" y="3070352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Server hashes password with stored salt, compares digests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803136" y="3197352"/>
            <a:ext cx="25400" cy="177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675120" y="3580384"/>
            <a:ext cx="292608" cy="292608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675120" y="3593084"/>
            <a:ext cx="292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B0F19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86600" y="3554984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78BFA"/>
                </a:solidFill>
                <a:latin typeface="Calibri"/>
              </a:defRPr>
            </a:pPr>
            <a:r>
              <a:t>JWT Issued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86600" y="3783584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On success: signed token with {sub, role, exp} claims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803136" y="3910584"/>
            <a:ext cx="25400" cy="177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675120" y="4293616"/>
            <a:ext cx="292608" cy="292608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675120" y="4306316"/>
            <a:ext cx="292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B0F19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086600" y="4268216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B923C"/>
                </a:solidFill>
                <a:latin typeface="Calibri"/>
              </a:defRPr>
            </a:pPr>
            <a:r>
              <a:t>Bearer Header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086600" y="4496816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Client sends Authorization: Bearer &lt;token&gt; on every request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803136" y="4623816"/>
            <a:ext cx="25400" cy="177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6675120" y="5006848"/>
            <a:ext cx="292608" cy="292608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675120" y="5019548"/>
            <a:ext cx="292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B0F19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086600" y="4981448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BBF24"/>
                </a:solidFill>
                <a:latin typeface="Calibri"/>
              </a:defRPr>
            </a:pPr>
            <a:r>
              <a:t>Middleware Check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086600" y="5210048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verify_token() validates signature + expiry, extracts role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803136" y="5337048"/>
            <a:ext cx="25400" cy="177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6675120" y="5720080"/>
            <a:ext cx="292608" cy="292608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675120" y="5732780"/>
            <a:ext cx="292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B0F19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086600" y="569468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7171"/>
                </a:solidFill>
                <a:latin typeface="Calibri"/>
              </a:defRPr>
            </a:pPr>
            <a:r>
              <a:t>Role Gate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086600" y="592328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require_role() decorator checks role ∈ allowed set, rejects with 403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31520" y="6400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Calibri"/>
              </a:defRPr>
            </a:pPr>
            <a:r>
              <a:t>NetSentry — Network Intrusion Detection System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058400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75569"/>
                </a:solidFill>
                <a:latin typeface="Calibri"/>
              </a:defRPr>
            </a:pPr>
            <a: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137160" cy="4572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2E8F0"/>
                </a:solidFill>
                <a:latin typeface="Calibri"/>
              </a:defRPr>
            </a:pPr>
            <a:r>
              <a:t>Model Performance &amp; Test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10058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Trained on CIC-IDS2017 — 66,721 flows, 30 features, 7 classes</a:t>
            </a:r>
          </a:p>
        </p:txBody>
      </p:sp>
      <p:pic>
        <p:nvPicPr>
          <p:cNvPr id="5" name="Picture 4" descr="confu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5669280" cy="408188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035040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75569"/>
                </a:solidFill>
                <a:latin typeface="Calibri"/>
              </a:defRPr>
            </a:pPr>
            <a:r>
              <a:t>Ensemble Confusion Matrix — diagonal = correct, off-diagonal = misclassifications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5544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75569"/>
                </a:solidFill>
                <a:latin typeface="Calibri"/>
              </a:defRPr>
            </a:pPr>
            <a:r>
              <a:t>MODEL ACCURACY COMPARISON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0" y="1920240"/>
            <a:ext cx="5029200" cy="347472"/>
          </a:xfrm>
          <a:prstGeom prst="roundRect">
            <a:avLst>
              <a:gd name="adj" fmla="val 5000"/>
            </a:avLst>
          </a:prstGeom>
          <a:solidFill>
            <a:srgbClr val="161E30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59880" y="195834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475569"/>
                </a:solidFill>
                <a:latin typeface="Calibri"/>
              </a:defRPr>
            </a:pPr>
            <a:r>
              <a:t>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05800" y="195834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475569"/>
                </a:solidFill>
                <a:latin typeface="Calibri"/>
              </a:defRPr>
            </a:pPr>
            <a:r>
              <a:t>Accuracy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20200" y="195834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475569"/>
                </a:solidFill>
                <a:latin typeface="Calibri"/>
              </a:defRPr>
            </a:pPr>
            <a:r>
              <a:t>F1 Macro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43160" y="195834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475569"/>
                </a:solidFill>
                <a:latin typeface="Calibri"/>
              </a:defRPr>
            </a:pPr>
            <a:r>
              <a:t>FPR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91800" y="195834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475569"/>
                </a:solidFill>
                <a:latin typeface="Calibri"/>
              </a:defRPr>
            </a:pPr>
            <a:r>
              <a:t>FNR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40440" y="195834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475569"/>
                </a:solidFill>
                <a:latin typeface="Calibri"/>
              </a:defRPr>
            </a:pPr>
            <a:r>
              <a:t>Latency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0" y="2331720"/>
            <a:ext cx="5029200" cy="438912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634480" y="2407920"/>
            <a:ext cx="50800" cy="279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1480" y="239522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4D399"/>
                </a:solidFill>
                <a:latin typeface="Calibri"/>
              </a:defRPr>
            </a:pPr>
            <a:r>
              <a:t>Random Forest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5800" y="23952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2E8F0"/>
                </a:solidFill>
                <a:latin typeface="JetBrains Mono"/>
              </a:defRPr>
            </a:pPr>
            <a:r>
              <a:t>99.39%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20200" y="23952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JetBrains Mono"/>
              </a:defRPr>
            </a:pPr>
            <a:r>
              <a:t>98.90%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43160" y="23952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JetBrains Mono"/>
              </a:defRPr>
            </a:pPr>
            <a:r>
              <a:t>0.67%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91800" y="23952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JetBrains Mono"/>
              </a:defRPr>
            </a:pPr>
            <a:r>
              <a:t>0.55%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40440" y="23952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JetBrains Mono"/>
              </a:defRPr>
            </a:pPr>
            <a:r>
              <a:t>&lt; 0.01 ms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0" y="2834639"/>
            <a:ext cx="5029200" cy="438912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634480" y="2910839"/>
            <a:ext cx="50800" cy="2794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1480" y="2898139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78BFA"/>
                </a:solidFill>
                <a:latin typeface="Calibri"/>
              </a:defRPr>
            </a:pPr>
            <a:r>
              <a:t>MLP Neural Net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05800" y="2898139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2E8F0"/>
                </a:solidFill>
                <a:latin typeface="JetBrains Mono"/>
              </a:defRPr>
            </a:pPr>
            <a:r>
              <a:t>98.69%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20200" y="2898139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JetBrains Mono"/>
              </a:defRPr>
            </a:pPr>
            <a:r>
              <a:t>96.91%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43160" y="2898139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JetBrains Mono"/>
              </a:defRPr>
            </a:pPr>
            <a:r>
              <a:t>1.37%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91800" y="2898139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JetBrains Mono"/>
              </a:defRPr>
            </a:pPr>
            <a:r>
              <a:t>1.27%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40440" y="2898139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JetBrains Mono"/>
              </a:defRPr>
            </a:pPr>
            <a:r>
              <a:t>&lt; 0.01 ms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0" y="3337560"/>
            <a:ext cx="5029200" cy="438912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634480" y="3413760"/>
            <a:ext cx="50800" cy="2794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61480" y="340106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0A5FA"/>
                </a:solidFill>
                <a:latin typeface="Calibri"/>
              </a:defRPr>
            </a:pPr>
            <a:r>
              <a:t>Ensemble (RF+MLP+IF)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05800" y="34010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2E8F0"/>
                </a:solidFill>
                <a:latin typeface="JetBrains Mono"/>
              </a:defRPr>
            </a:pPr>
            <a:r>
              <a:t>99.27%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20200" y="34010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JetBrains Mono"/>
              </a:defRPr>
            </a:pPr>
            <a:r>
              <a:t>98.57%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43160" y="34010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JetBrains Mono"/>
              </a:defRPr>
            </a:pPr>
            <a:r>
              <a:t>0.52%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91800" y="34010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JetBrains Mono"/>
              </a:defRPr>
            </a:pPr>
            <a:r>
              <a:t>0.87%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40440" y="340106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JetBrains Mono"/>
              </a:defRPr>
            </a:pPr>
            <a:r>
              <a:t>0.48 ms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83680" y="3840480"/>
            <a:ext cx="5029200" cy="438912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634480" y="3916680"/>
            <a:ext cx="50800" cy="2794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761480" y="390398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B923C"/>
                </a:solidFill>
                <a:latin typeface="Calibri"/>
              </a:defRPr>
            </a:pPr>
            <a:r>
              <a:t>Isolation Forest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05800" y="39039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2E8F0"/>
                </a:solidFill>
                <a:latin typeface="JetBrains Mono"/>
              </a:defRPr>
            </a:pPr>
            <a:r>
              <a:t>74.71%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20200" y="39039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JetBrains Mono"/>
              </a:defRPr>
            </a:pPr>
            <a:r>
              <a:t>—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43160" y="39039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JetBrains Mono"/>
              </a:defRPr>
            </a:pPr>
            <a:r>
              <a:t>—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91800" y="39039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JetBrains Mono"/>
              </a:defRPr>
            </a:pPr>
            <a:r>
              <a:t>—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140440" y="390398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JetBrains Mono"/>
              </a:defRPr>
            </a:pPr>
            <a:r>
              <a:t>&lt; 0.01 ms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0" y="44348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75569"/>
                </a:solidFill>
                <a:latin typeface="Calibri"/>
              </a:defRPr>
            </a:pPr>
            <a:r>
              <a:t>ENSEMBLE PER-CLASS F1 SCORES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685280" y="475488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4D399"/>
                </a:solidFill>
                <a:latin typeface="Calibri"/>
              </a:defRPr>
            </a:pPr>
            <a:r>
              <a:t>Benign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772400" y="4805680"/>
            <a:ext cx="1188720" cy="177800"/>
          </a:xfrm>
          <a:prstGeom prst="roundRect">
            <a:avLst>
              <a:gd name="adj" fmla="val 40000"/>
            </a:avLst>
          </a:prstGeom>
          <a:solidFill>
            <a:srgbClr val="16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7772400" y="4805680"/>
            <a:ext cx="1179210" cy="177800"/>
          </a:xfrm>
          <a:prstGeom prst="roundRect">
            <a:avLst>
              <a:gd name="adj" fmla="val 40000"/>
            </a:avLst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772400" y="476758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E2E8F0"/>
                </a:solidFill>
                <a:latin typeface="Calibri"/>
              </a:defRPr>
            </a:pPr>
            <a:r>
              <a:t>99.2%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685280" y="510235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87171"/>
                </a:solidFill>
                <a:latin typeface="Calibri"/>
              </a:defRPr>
            </a:pPr>
            <a:r>
              <a:t>DDoS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772400" y="5153152"/>
            <a:ext cx="1188720" cy="177800"/>
          </a:xfrm>
          <a:prstGeom prst="roundRect">
            <a:avLst>
              <a:gd name="adj" fmla="val 40000"/>
            </a:avLst>
          </a:prstGeom>
          <a:solidFill>
            <a:srgbClr val="16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7772400" y="5153152"/>
            <a:ext cx="1183965" cy="177800"/>
          </a:xfrm>
          <a:prstGeom prst="roundRect">
            <a:avLst>
              <a:gd name="adj" fmla="val 40000"/>
            </a:avLst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772400" y="5115052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E2E8F0"/>
                </a:solidFill>
                <a:latin typeface="Calibri"/>
              </a:defRPr>
            </a:pPr>
            <a:r>
              <a:t>99.6%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685280" y="544982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0A5FA"/>
                </a:solidFill>
                <a:latin typeface="Calibri"/>
              </a:defRPr>
            </a:pPr>
            <a:r>
              <a:t>PortScan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772400" y="5500624"/>
            <a:ext cx="1188720" cy="177800"/>
          </a:xfrm>
          <a:prstGeom prst="roundRect">
            <a:avLst>
              <a:gd name="adj" fmla="val 40000"/>
            </a:avLst>
          </a:prstGeom>
          <a:solidFill>
            <a:srgbClr val="16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7772400" y="5500624"/>
            <a:ext cx="1173266" cy="177800"/>
          </a:xfrm>
          <a:prstGeom prst="roundRect">
            <a:avLst>
              <a:gd name="adj" fmla="val 40000"/>
            </a:avLst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772400" y="5462524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E2E8F0"/>
                </a:solidFill>
                <a:latin typeface="Calibri"/>
              </a:defRPr>
            </a:pPr>
            <a:r>
              <a:t>98.7%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685280" y="5797296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BBF24"/>
                </a:solidFill>
                <a:latin typeface="Calibri"/>
              </a:defRPr>
            </a:pPr>
            <a:r>
              <a:t>BruteForce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7772400" y="5848096"/>
            <a:ext cx="1188720" cy="177800"/>
          </a:xfrm>
          <a:prstGeom prst="roundRect">
            <a:avLst>
              <a:gd name="adj" fmla="val 40000"/>
            </a:avLst>
          </a:prstGeom>
          <a:solidFill>
            <a:srgbClr val="16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7772400" y="5848096"/>
            <a:ext cx="1185153" cy="177800"/>
          </a:xfrm>
          <a:prstGeom prst="roundRect">
            <a:avLst>
              <a:gd name="adj" fmla="val 40000"/>
            </a:avLst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772400" y="5809996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E2E8F0"/>
                </a:solidFill>
                <a:latin typeface="Calibri"/>
              </a:defRPr>
            </a:pPr>
            <a:r>
              <a:t>99.7%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245600" y="475488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B923C"/>
                </a:solidFill>
                <a:latin typeface="Calibri"/>
              </a:defRPr>
            </a:pPr>
            <a:r>
              <a:t>Botnet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10332720" y="4805680"/>
            <a:ext cx="1188720" cy="177800"/>
          </a:xfrm>
          <a:prstGeom prst="roundRect">
            <a:avLst>
              <a:gd name="adj" fmla="val 40000"/>
            </a:avLst>
          </a:prstGeom>
          <a:solidFill>
            <a:srgbClr val="16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10332720" y="4805680"/>
            <a:ext cx="1188720" cy="177800"/>
          </a:xfrm>
          <a:prstGeom prst="roundRect">
            <a:avLst>
              <a:gd name="adj" fmla="val 40000"/>
            </a:avLst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0332720" y="476758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E2E8F0"/>
                </a:solidFill>
                <a:latin typeface="Calibri"/>
              </a:defRPr>
            </a:pPr>
            <a:r>
              <a:t>100%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245600" y="510235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78BFA"/>
                </a:solidFill>
                <a:latin typeface="Calibri"/>
              </a:defRPr>
            </a:pPr>
            <a:r>
              <a:t>Infiltration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10332720" y="5153152"/>
            <a:ext cx="1188720" cy="177800"/>
          </a:xfrm>
          <a:prstGeom prst="roundRect">
            <a:avLst>
              <a:gd name="adj" fmla="val 40000"/>
            </a:avLst>
          </a:prstGeom>
          <a:solidFill>
            <a:srgbClr val="16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10332720" y="5153152"/>
            <a:ext cx="1188720" cy="177800"/>
          </a:xfrm>
          <a:prstGeom prst="roundRect">
            <a:avLst>
              <a:gd name="adj" fmla="val 40000"/>
            </a:avLst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0332720" y="5115052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E2E8F0"/>
                </a:solidFill>
                <a:latin typeface="Calibri"/>
              </a:defRPr>
            </a:pPr>
            <a:r>
              <a:t>100%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245600" y="544982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BBF24"/>
                </a:solidFill>
                <a:latin typeface="Calibri"/>
              </a:defRPr>
            </a:pPr>
            <a:r>
              <a:t>WebAttack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10332720" y="5500624"/>
            <a:ext cx="1188720" cy="177800"/>
          </a:xfrm>
          <a:prstGeom prst="roundRect">
            <a:avLst>
              <a:gd name="adj" fmla="val 40000"/>
            </a:avLst>
          </a:prstGeom>
          <a:solidFill>
            <a:srgbClr val="16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10332720" y="5500624"/>
            <a:ext cx="1101943" cy="177800"/>
          </a:xfrm>
          <a:prstGeom prst="roundRect">
            <a:avLst>
              <a:gd name="adj" fmla="val 40000"/>
            </a:avLst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0332720" y="5462524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E2E8F0"/>
                </a:solidFill>
                <a:latin typeface="Calibri"/>
              </a:defRPr>
            </a:pPr>
            <a:r>
              <a:t>92.7%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583680" y="617220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Calibri"/>
              </a:defRPr>
            </a:pPr>
            <a:r>
              <a:t>Dataset: 66,721 flows  |  30 features  |  Training time: 361s  |  140/140 unit tests passing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31520" y="6400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Calibri"/>
              </a:defRPr>
            </a:pPr>
            <a:r>
              <a:t>NetSentry — Network Intrusion Detection System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058400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75569"/>
                </a:solidFill>
                <a:latin typeface="Calibri"/>
              </a:defRPr>
            </a:pPr>
            <a: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137160" cy="4572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2E8F0"/>
                </a:solidFill>
                <a:latin typeface="Calibri"/>
              </a:defRPr>
            </a:pPr>
            <a:r>
              <a:t>Test Cases — 140 Tests Passing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10058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Comprehensive test coverage across all system layers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965960" cy="73152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965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34D399"/>
                </a:solidFill>
                <a:latin typeface="Calibri"/>
              </a:defRPr>
            </a:pPr>
            <a:r>
              <a:t>140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1965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4D399"/>
                </a:solidFill>
                <a:latin typeface="Calibri"/>
              </a:defRPr>
            </a:pPr>
            <a:r>
              <a:t>TESTS PASSING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0" y="1463040"/>
            <a:ext cx="1965960" cy="73152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80" y="1508760"/>
            <a:ext cx="1965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60A5FA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1920240"/>
            <a:ext cx="1965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0A5FA"/>
                </a:solidFill>
                <a:latin typeface="Calibri"/>
              </a:defRPr>
            </a:pPr>
            <a:r>
              <a:t>TEST MODULES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20640" y="1463040"/>
            <a:ext cx="1965960" cy="73152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20640" y="1508760"/>
            <a:ext cx="1965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34D399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1920240"/>
            <a:ext cx="1965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4D399"/>
                </a:solidFill>
                <a:latin typeface="Calibri"/>
              </a:defRPr>
            </a:pPr>
            <a:r>
              <a:t>FAILURES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199" y="1463040"/>
            <a:ext cx="1965960" cy="73152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199" y="1508760"/>
            <a:ext cx="1965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A78BFA"/>
                </a:solidFill>
                <a:latin typeface="Calibri"/>
              </a:defRPr>
            </a:pPr>
            <a:r>
              <a:t>&lt; 5s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199" y="1920240"/>
            <a:ext cx="1965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A78BFA"/>
                </a:solidFill>
                <a:latin typeface="Calibri"/>
              </a:defRPr>
            </a:pPr>
            <a:r>
              <a:t>TOTAL RUNTIME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468880"/>
            <a:ext cx="5212080" cy="91440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8520" y="254508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0A5FA"/>
                </a:solidFill>
                <a:latin typeface="Consolas"/>
              </a:defRPr>
            </a:pPr>
            <a:r>
              <a:t>test_api.py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31920" y="25450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475569"/>
                </a:solidFill>
                <a:latin typeface="Calibri"/>
              </a:defRPr>
            </a:pPr>
            <a:r>
              <a:t>7 tests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9320" y="2773680"/>
            <a:ext cx="4754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• Health &amp; metrics endpoints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9320" y="2938780"/>
            <a:ext cx="4754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• Single &amp; batch prediction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9320" y="3103880"/>
            <a:ext cx="4754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• Alert listing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9320" y="3268980"/>
            <a:ext cx="4754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• Stats endpoint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3520440"/>
            <a:ext cx="5212080" cy="91440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8520" y="35966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4D399"/>
                </a:solidFill>
                <a:latin typeface="Consolas"/>
              </a:defRPr>
            </a:pPr>
            <a:r>
              <a:t>test_auth.py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31920" y="359664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475569"/>
                </a:solidFill>
                <a:latin typeface="Calibri"/>
              </a:defRPr>
            </a:pPr>
            <a:r>
              <a:t>35 tests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9320" y="3825240"/>
            <a:ext cx="4754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• JWT create/verify/expire/tamper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9320" y="3990340"/>
            <a:ext cx="4754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• User CRUD &amp; persistence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9320" y="4155440"/>
            <a:ext cx="4754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• Login success/failure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9320" y="4320540"/>
            <a:ext cx="4754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• RBAC: admin vs viewer gates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9320" y="4485640"/>
            <a:ext cx="4754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• Password change &amp; public endpoints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4572000"/>
            <a:ext cx="5212080" cy="91440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8520" y="46482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A78BFA"/>
                </a:solidFill>
                <a:latin typeface="Consolas"/>
              </a:defRPr>
            </a:pPr>
            <a:r>
              <a:t>test_models.py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931920" y="46482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475569"/>
                </a:solidFill>
                <a:latin typeface="Calibri"/>
              </a:defRPr>
            </a:pPr>
            <a:r>
              <a:t>13 tests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9320" y="4876800"/>
            <a:ext cx="4754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• Decision Tree: fit, predict, proba, impurity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9320" y="5041900"/>
            <a:ext cx="4754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• Random Forest: OOB score, feature importance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9320" y="5207000"/>
            <a:ext cx="4754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• MLP: probabilities, early stopping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9320" y="5372100"/>
            <a:ext cx="4754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• Isolation Forest: anomaly detection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9320" y="5537200"/>
            <a:ext cx="4754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• Ensemble end-to-end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31520" y="5623560"/>
            <a:ext cx="5212080" cy="91440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58520" y="56997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87171"/>
                </a:solidFill>
                <a:latin typeface="Consolas"/>
              </a:defRPr>
            </a:pPr>
            <a:r>
              <a:t>test_enforcement.py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931920" y="56997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475569"/>
                </a:solidFill>
                <a:latin typeface="Calibri"/>
              </a:defRPr>
            </a:pPr>
            <a:r>
              <a:t>22 tests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9320" y="5928360"/>
            <a:ext cx="4754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• Response policy per attack type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9320" y="6093460"/>
            <a:ext cx="4754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• Allowlist (private IPs, localhost)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9320" y="6258560"/>
            <a:ext cx="4754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• Confidence gating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9320" y="6423660"/>
            <a:ext cx="4754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• Dedup, capacity cap, manual unblock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9320" y="6588760"/>
            <a:ext cx="4754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• NoOp backend lifecycle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217920" y="2468880"/>
            <a:ext cx="5212080" cy="91440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44920" y="254508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B923C"/>
                </a:solidFill>
                <a:latin typeface="Consolas"/>
              </a:defRPr>
            </a:pPr>
            <a:r>
              <a:t>test_e2e_enforcement.py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418320" y="25450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475569"/>
                </a:solidFill>
                <a:latin typeface="Calibri"/>
              </a:defRPr>
            </a:pPr>
            <a:r>
              <a:t>15 tests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95720" y="2773680"/>
            <a:ext cx="4754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• DDoS/BruteForce/PortScan full pipeline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395720" y="2938780"/>
            <a:ext cx="4754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• Allowlist protection (private IPs)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95720" y="3103880"/>
            <a:ext cx="4754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• Batch mixed traffic simulation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95720" y="3268980"/>
            <a:ext cx="4754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• Block-unblock-flush lifecycle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395720" y="3434080"/>
            <a:ext cx="4754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• Stats reflect traffic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217920" y="3520440"/>
            <a:ext cx="5212080" cy="91440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344920" y="35966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BBF24"/>
                </a:solidFill>
                <a:latin typeface="Consolas"/>
              </a:defRPr>
            </a:pPr>
            <a:r>
              <a:t>test_data_and_metrics.py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418320" y="359664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475569"/>
                </a:solidFill>
                <a:latin typeface="Calibri"/>
              </a:defRPr>
            </a:pPr>
            <a:r>
              <a:t>12 tests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395720" y="3825240"/>
            <a:ext cx="4754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• Data generator shape &amp; labels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395720" y="3990340"/>
            <a:ext cx="4754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• Preprocessor: scale, split, inf/NaN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395720" y="4155440"/>
            <a:ext cx="4754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• Confusion matrix, accuracy, P/R/F1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395720" y="4320540"/>
            <a:ext cx="4754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• ROC AUC (perfect &amp; random)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217920" y="4572000"/>
            <a:ext cx="5212080" cy="91440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344920" y="46482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0A5FA"/>
                </a:solidFill>
                <a:latin typeface="Consolas"/>
              </a:defRPr>
            </a:pPr>
            <a:r>
              <a:t>test_real_dataset.py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418320" y="46482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475569"/>
                </a:solidFill>
                <a:latin typeface="Calibri"/>
              </a:defRPr>
            </a:pPr>
            <a:r>
              <a:t>36 tests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395720" y="4876800"/>
            <a:ext cx="4754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• CIC-IDS CSV loader &amp; parser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395720" y="5041900"/>
            <a:ext cx="4754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• Label mapping (DoS→DDoS, Bot→Botnet)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395720" y="5207000"/>
            <a:ext cx="4754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• Column index builder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395720" y="5372100"/>
            <a:ext cx="4754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• Balance classes (undersample + augment)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95720" y="5537200"/>
            <a:ext cx="4754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• Deduplication &amp; full pipeline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31520" y="6400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Calibri"/>
              </a:defRPr>
            </a:pPr>
            <a:r>
              <a:t>NetSentry — Network Intrusion Detection System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058400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75569"/>
                </a:solidFill>
                <a:latin typeface="Calibri"/>
              </a:defRPr>
            </a:pPr>
            <a: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